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Net Sales</c:v>
                </c:pt>
                <c:pt idx="1">
                  <c:v>COGS</c:v>
                </c:pt>
                <c:pt idx="2">
                  <c:v>Depr.</c:v>
                </c:pt>
                <c:pt idx="3">
                  <c:v>Gain</c:v>
                </c:pt>
                <c:pt idx="4">
                  <c:v>Net Income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103336</c:v>
                </c:pt>
                <c:pt idx="1">
                  <c:v>47900</c:v>
                </c:pt>
                <c:pt idx="2">
                  <c:v>3200</c:v>
                </c:pt>
                <c:pt idx="3">
                  <c:v>3200</c:v>
                </c:pt>
                <c:pt idx="4">
                  <c:v>55436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F-B442-B50C-E3B9ECF4B9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1167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Accounting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 Report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 Ended December 31, 2025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Allen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Accounting Report  |  FY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216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transactions recorded Oct–Dec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17647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9659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debits &amp; credits for each transaction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2313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T-Accounts &amp; Trial Balances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514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 and post-adjustment balances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862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063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expenses, and net income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410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611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liabilities, and shareholders' equity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3959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Highlights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160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metrics and checks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1234440"/>
            <a:ext cx="2743200" cy="310896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$55,436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6629400" y="2606040"/>
            <a:ext cx="13716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4360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$1,025,086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Accounting Report  |  FY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Log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7772400" cy="309067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Purchased equipment, land, building via note payable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accrued real estate taxes on land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building renovation costs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Collected cash from customers on account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 1,200 units on account (2/10, n/60)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$14,400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returned 100 units; balance paid w/ discount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Purchased 1,500 units @ $9.50 on account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$14,250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 1,100 units on account (n/60)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$15,400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Wrote off customer A/R balance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 machine for cash (recorded depreciation)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Year-end NRV assessment for inventory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Accounting Report  |  FY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Journal Entries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JE-1: Lump-Sum Purchase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1, 2025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Equipment         $90,000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7556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Land             $540,000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938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Building         $270,000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121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  Notes Payable   $900,000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393192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170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JE-6: Sale on Account (FIFO)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3533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30,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572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Accounts Receivable  $14,400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17556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  Sales Revenue       $14,400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19385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COGS                   $9,600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121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  Merchandise Inv      $9,600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393192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2999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JE-7: Return + Discount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31821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5, 2025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401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Sales Returns         $1,200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584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  A/R                  $1,200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767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Cash                  $12,936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9502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Sales Discounts          $264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926080"/>
            <a:ext cx="3931920" cy="164592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63440" y="292608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999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JE-12/13: Depreciation + Sale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1821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31, 2025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401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Depr. Expense          $3,200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3584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  Accum. Depr.          $3,200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3767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Cash                  $16,000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39502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  Machine              $20,000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Accounting Report  |  FY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Trial Balance Comparison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693936"/>
              </p:ext>
            </p:extLst>
          </p:nvPr>
        </p:nvGraphicFramePr>
        <p:xfrm>
          <a:off x="274320" y="1051560"/>
          <a:ext cx="7863840" cy="422300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Pre-Adj Dr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Pre-Adj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Post-Adj Dr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Post-Adj 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58,536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58,536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Receivable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Allow. Doubtful Accts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Merchandise Inventory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12,350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12,350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Expense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Accum. Depr.–Machine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Payable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Payable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/ Retained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(net of returns)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103,336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103,336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on Sale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Expense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Accum. Depr. (adj.)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1,082,050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1,082,050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1,078,050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1,078,050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Accounting Report  |  FY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Statement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Ended December 31, 2025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499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0" y="1499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$104,800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719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 Sales Returns &amp; Allow.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1719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($1,200)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938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 Sales Discounts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1938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($264)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1579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157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$103,336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5968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8163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Goods Sold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2816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$47,900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0358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Expense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3035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2552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32552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$51,100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694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Income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on Sale of Machine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3913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34256"/>
            <a:ext cx="5029200" cy="2560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352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$55,436</a:t>
            </a:r>
            <a:endParaRPr lang="en-US" sz="11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5669280" y="118872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Accounting Report  |  FY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Classified Balance Sheet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31, 2025 (After Closing)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23360" cy="33832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02336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847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0" y="18470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$58,536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0482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Receivable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20482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$27,600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2494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 Allow. Doubtful Accts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22494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($400)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4505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Merchandise Inventory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24505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$12,350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2651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Expense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2651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852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Current Assets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28529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$101,086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2552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Assets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4564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0" y="34564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$90,000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0" y="36576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$544,000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3858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26080" y="38587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$290,000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0599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Long-Term Assets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$924,000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462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0" y="4462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$1,025,086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234440"/>
            <a:ext cx="4023360" cy="33832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 &amp; EQUITY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16459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Liabilities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1847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Payable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18470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$22,650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204825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Current Liabilities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15200" y="20482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$22,650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24505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Liabilities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2651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Payable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26517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$900,000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37760" y="2852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Long-Term Liabilities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28529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$900,000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325526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Liabilities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0" y="32552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$922,650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37760" y="36576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Shareholders' Equity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37760" y="3858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Shares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0" y="38587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$35,000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37760" y="40599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$67,436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37760" y="42611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Shareholders' Equity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15200" y="426110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$102,436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937760" y="4462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 + SE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15200" y="4462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$1,025,086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Accounting Report  |  FY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Retained Earnings &amp; Adjustments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2336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Retained Earnings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Ended December 31, 2025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Earnings, Beginning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965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Net Income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$55,436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Less: Dividends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2697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26664"/>
            <a:ext cx="365760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Earnings, Ending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063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$67,436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402336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1188720"/>
            <a:ext cx="4023360" cy="320040"/>
          </a:xfrm>
          <a:prstGeom prst="rect">
            <a:avLst/>
          </a:prstGeom>
          <a:solidFill>
            <a:srgbClr val="0F1B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Entry (JE-12)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31, 2025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 Depreciation Expense       $3,200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  Accum. Depr.–Machine      $3,200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651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adjusting entry to recognize 2025 depreciation that was not recorded during the year. Increases expenses and contra-asset, reducing net income and carrying value.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Financial Highlights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146304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$103,336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46304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$55,436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146304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$1,025,086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560320" cy="146304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Liabilities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$922,650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291840" y="2926080"/>
            <a:ext cx="2560320" cy="146304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9184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Shareholders' Equity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$102,436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560320" cy="1463040"/>
          </a:xfrm>
          <a:prstGeom prst="rect">
            <a:avLst/>
          </a:prstGeom>
          <a:solidFill>
            <a:srgbClr val="0F1B3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560320" cy="54864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Inventory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$12,350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Accounting Report  |  FY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&amp; Checks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955280" cy="1828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Debits / Left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Credits / Right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Balance (Pre-Adj)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$1,082,050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$1,082,050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Balance (Post-Adj)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$1,078,050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$1,078,050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Sheet (Assets = L + 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$1,025,086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$1,025,086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 Rollforward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0" y="3291840"/>
            <a:ext cx="3657600" cy="10972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CHECKS PASSED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trial balances balance. Balance sheet equation holds.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earnings rollforward is correct.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</Words>
  <Application>Microsoft Macintosh PowerPoint</Application>
  <PresentationFormat>On-screen Show (16:9)</PresentationFormat>
  <Paragraphs>309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Accounting Report – FY 2025</dc:title>
  <dc:subject>PptxGenJS Presentation</dc:subject>
  <dc:creator>Allen</dc:creator>
  <cp:lastModifiedBy>Zezhan Dong</cp:lastModifiedBy>
  <cp:revision>2</cp:revision>
  <dcterms:created xsi:type="dcterms:W3CDTF">2026-02-15T19:12:53Z</dcterms:created>
  <dcterms:modified xsi:type="dcterms:W3CDTF">2026-02-15T19:14:01Z</dcterms:modified>
</cp:coreProperties>
</file>